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ISPN Claude POC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AB7B8"/>
                </a:solidFill>
              </a:rPr>
              <a:t>Board Presentation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F6F6"/>
                </a:solidFill>
              </a:rPr>
              <a:t>Transforming Executive Operations Through AI-Powered Intelligence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</a:rPr>
              <a:t>Executive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053"/>
                </a:solidFill>
              </a:rPr>
              <a:t>The Opportunity: </a:t>
            </a:r>
            <a:pPr indent="0" marL="0">
              <a:buNone/>
            </a:pPr>
            <a:r>
              <a:rPr lang="en-US" sz="1600" dirty="0">
                <a:solidFill>
                  <a:srgbClr val="2E4053"/>
                </a:solidFill>
              </a:rPr>
              <a:t>Deploy Claude AI across five key executive roles to automate operational workflows, accelerate decision-making, and free 100+ hours weekly of senior leadership time.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</a:rPr>
              <a:t>Key Benefits: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</a:rPr>
              <a:t>$7.8M+ total annual value creation across all executives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</a:rPr>
              <a:t>3-7 day payback period on initial investment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</a:rPr>
              <a:t>30-70% time savings on operational workflows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</a:rPr>
              <a:t>Real-time intelligence replacing manual data synthesis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</a:rPr>
              <a:t>Accelerated strategic initiative velocity by 30-40%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</a:rPr>
              <a:t>The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Current State Challenge: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Executive leadership spends 40-60% of time on operational data mechanics rather than strategic decision-making. Manual workflows create delays, reactive responses, and missed opportunities.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Proposed Solution: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Claude AI as executive intelligence layer across five critical roles, automating data synthesis, enabling predictive analytics, and accelerating cross-functional alignment.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Jeff Neblett - President &amp; CEO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Use Case: Strategic Decision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Board preparation time: 20 hrs → 2 hrs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Real-time competitive intelligence synthesis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M&amp;A deal analysis acceleration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Executive communication automation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ROI Impact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Annual Value: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$1.2M-1.5M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Time Savings: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15-20 hrs/week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Payback Period: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3 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ROI: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15,000%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Scott Lauber - Chief Technology Officer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Use Case: Code Review &amp; Documentation Automation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Code review time: 10 hrs → 2 hrs/week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Auto-generated technical documentation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Architecture analysis &amp; recommendations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Security vulnerability 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ROI Impact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Annual Value: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$850K-1.2M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Time Savings: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15-20 hrs/week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Payback Period: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5 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ROI: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10,000%+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Charlie Brenneman - SVP Operations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Use Case: Operational Intelligence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Portfolio synthesis: 4 hrs → 10 min daily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Real-time initiative health monitoring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Cross-functional alignment acceleration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Automated board reporting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ROI Impact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Annual Value: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$2.5M+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Time Savings: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30 hrs/week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Payback Period: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7 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ROI: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5,000%+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</a:rPr>
              <a:t>Ty Sorensen - VP Sales/Marketing/CS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Use Case: Revenue Operations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Forecast accuracy: ±18% → ±8%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Predictive customer health scoring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Marketing content velocity 7x increase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Proactive churn prevention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ROI Impact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Annual Value: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$1.6M-2M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Time Savings: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25-30 hrs/week (team)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Payback Period: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7 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ROI: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4,500%+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</a:rPr>
              <a:t>Bryon Gaddy - Controller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2926080"/>
          </a:xfrm>
          <a:prstGeom prst="rect">
            <a:avLst/>
          </a:prstGeom>
          <a:solidFill>
            <a:srgbClr val="F4F6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Use Case: Month-End Close Acceleration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Close cycle: 7 days → 4 days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Automated reconciliation verification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Real-time exception identification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4053"/>
                </a:solidFill>
              </a:rPr>
              <a:t>Audit-ready documentation generation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ROI Impact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Annual Value: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$100K-160K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Time Savings: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30-40 hrs/month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Payback Period: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14 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053"/>
                </a:solidFill>
              </a:rPr>
              <a:t>ROI: </a:t>
            </a:r>
            <a:pPr indent="0" marL="0">
              <a:buNone/>
            </a:pPr>
            <a:r>
              <a:rPr lang="en-US" sz="1400" dirty="0">
                <a:solidFill>
                  <a:srgbClr val="2E4053"/>
                </a:solidFill>
              </a:rPr>
              <a:t>2,500%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</a:rPr>
              <a:t>Executive Impact Comparison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201168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Executive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Annual Value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 Savings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Payback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Jeff Neblett (CEO)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$1.2M-1.5M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15-20 hrs/wk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Scott Lauber (CTO)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$850K-1.2M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15-20 hrs/wk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Charlie Brenneman (Ops)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$2.5M+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 hrs/wk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Ty Sorensen (Sales)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$1.6M-2M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25-30 hrs/wk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Bryon Gaddy (Finance)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$100K-160K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30-40 hrs/mo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</a:rPr>
              <a:t>Total ROI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0972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Total Annual Value Creation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32"/>
                </a:solidFill>
              </a:rPr>
              <a:t>$7.8M - $8.4M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097280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Total Investment (Year 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7C00"/>
                </a:solidFill>
              </a:rPr>
              <a:t>$125K - $175K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286000" y="2468880"/>
            <a:ext cx="4572000" cy="13716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2651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</a:rPr>
              <a:t>Net ROI (Year 1)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3017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565C0"/>
                </a:solidFill>
              </a:rPr>
              <a:t>5,000% - 6,000%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</a:rPr>
              <a:t>Strategic Advantages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</a:rPr>
              <a:t>Competitive 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Decision velocity 3-4x faster than competitors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Real-time market intelligence vs reactive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Strategic initiative execution velocity +30-40%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Board-level visibility unprecedented in industry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</a:rPr>
              <a:t>Organizational Transformation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Executives focus on strategy vs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Data-driven decisions replace intuition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Cross-functional alignment accelerated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Predictive capabilities vs reactive firefighting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</a:rPr>
              <a:t>Security &amp; Compliance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</a:rPr>
              <a:t>Data Security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Enterprise-grade Claude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Zero data retention by Anthropic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SOC 2 Type II certified infrastructure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End-to-end encryption in transit and at rest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</a:rPr>
              <a:t>Compliance &amp; Governance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GDPR and CCPA compliant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Complete audit trail of all AI interactions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Human oversight on critical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</a:rPr>
              <a:t>Regular security audits and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</a:rPr>
              <a:t>Implementation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618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1: Foundation (Weeks 1-2)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Technical setup, MCP integrations, pilot training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2E405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476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2: Executive Pilots (Weeks 3-6)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Deploy to CEO &amp; CTO, validate value, refine workflows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334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3: Scale (Weeks 7-10)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Deploy to remaining executives, optimize processes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927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Phase 4: Optimization (Weeks 11+)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Continuous improvement, expand use cases, measure ROI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833"/>
                </a:solidFill>
              </a:rPr>
              <a:t>Success Metrics &amp; KPIs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2560320"/>
        </p:xfrm>
        <a:graphic>
          <a:graphicData uri="http://schemas.openxmlformats.org/drawingml/2006/table">
            <a:tbl>
              <a:tblPr/>
              <a:tblGrid>
                <a:gridCol w="3200400"/>
                <a:gridCol w="2057400"/>
                <a:gridCol w="20574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 (6 mo)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Executive time on strategy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10-20%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40-50%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Decision cycle 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2-3 weeks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3-5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Board forecast accuracy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±15-20%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±5-8%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Strategic initiative velocity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+30-40%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Close cycle 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Recommendation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B7B8"/>
                </a:solidFill>
              </a:rPr>
              <a:t>Approve Phase 1 implementation across five executive roles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6F6"/>
                </a:solidFill>
              </a:rPr>
              <a:t>Investment: </a:t>
            </a:r>
            <a:pPr algn="ctr" indent="0" marL="0">
              <a:buNone/>
            </a:pPr>
            <a:r>
              <a:rPr lang="en-US" sz="1600" dirty="0">
                <a:solidFill>
                  <a:srgbClr val="F4F6F6"/>
                </a:solidFill>
              </a:rPr>
              <a:t>$125K-175K Year 1  |  </a:t>
            </a:r>
            <a:pPr algn="ctr" indent="0" marL="0">
              <a:buNone/>
            </a:pPr>
            <a:r>
              <a:rPr lang="en-US" sz="1600" b="1" dirty="0">
                <a:solidFill>
                  <a:srgbClr val="F4F6F6"/>
                </a:solidFill>
              </a:rPr>
              <a:t>Return: </a:t>
            </a:r>
            <a:pPr algn="ctr" indent="0" marL="0">
              <a:buNone/>
            </a:pPr>
            <a:r>
              <a:rPr lang="en-US" sz="1600" dirty="0">
                <a:solidFill>
                  <a:srgbClr val="F4F6F6"/>
                </a:solidFill>
              </a:rPr>
              <a:t>$7.8M-8.4M  |  </a:t>
            </a:r>
            <a:pPr algn="ctr" indent="0" marL="0">
              <a:buNone/>
            </a:pPr>
            <a:r>
              <a:rPr lang="en-US" sz="1600" b="1" dirty="0">
                <a:solidFill>
                  <a:srgbClr val="F4F6F6"/>
                </a:solidFill>
              </a:rPr>
              <a:t>Payback: </a:t>
            </a:r>
            <a:pPr algn="ctr" indent="0" marL="0">
              <a:buNone/>
            </a:pPr>
            <a:r>
              <a:rPr lang="en-US" sz="1600" dirty="0">
                <a:solidFill>
                  <a:srgbClr val="F4F6F6"/>
                </a:solidFill>
              </a:rPr>
              <a:t>3-7 days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ISPN Claude POC Board Presentation</dc:title>
  <dc:subject>PptxGenJS Presentation</dc:subject>
  <dc:creator>ISPN</dc:creator>
  <cp:lastModifiedBy>ISPN</cp:lastModifiedBy>
  <cp:revision>1</cp:revision>
  <dcterms:created xsi:type="dcterms:W3CDTF">2025-11-12T14:40:27Z</dcterms:created>
  <dcterms:modified xsi:type="dcterms:W3CDTF">2025-11-12T14:40:27Z</dcterms:modified>
</cp:coreProperties>
</file>